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16161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05840"/>
            <a:ext cx="2286000" cy="20873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E6CA65"/>
                </a:solidFill>
              </a:defRPr>
            </a:pPr>
            <a:r>
              <a:t>V É L O R A   P A R F U M S</a:t>
            </a:r>
          </a:p>
          <a:p>
            <a:pPr algn="ctr">
              <a:defRPr sz="2000">
                <a:solidFill>
                  <a:srgbClr val="F5F5F5"/>
                </a:solidFill>
              </a:defRPr>
            </a:pPr>
            <a:r>
              <a:t>Haute Parfumerie E-Commerce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5A880"/>
                </a:solidFill>
              </a:defRPr>
            </a:pPr>
            <a:r>
              <a:t>Course: DTI 224 — Web Development Final Project</a:t>
            </a:r>
          </a:p>
          <a:p>
            <a:pPr algn="ctr">
              <a:defRPr sz="1300">
                <a:solidFill>
                  <a:srgbClr val="A0A0A0"/>
                </a:solidFill>
              </a:defRPr>
            </a:pPr>
            <a:r>
              <a:t>Developer: RexX0Dora1005  •  Technology: HTML5, CSS3, JavaScript (DOM/BOM)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Project Vision &amp; Brand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F37"/>
                </a:solidFill>
              </a:defRPr>
            </a:pPr>
            <a:r>
              <a:t>Why VÉLORA Luxury Perfume?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Haute Parfumerie Identity</a:t>
            </a:r>
          </a:p>
          <a:p>
            <a:pPr>
              <a:defRPr sz="1200">
                <a:solidFill>
                  <a:srgbClr val="A0A0A0"/>
                </a:solidFill>
              </a:defRPr>
            </a:pPr>
            <a:r>
              <a:t>Simulates an authentic French boutique experience inspired by houses like Chanel, Dior Privée, and Creed.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Comprehensive Flow</a:t>
            </a:r>
          </a:p>
          <a:p>
            <a:pPr>
              <a:defRPr sz="1200">
                <a:solidFill>
                  <a:srgbClr val="A0A0A0"/>
                </a:solidFill>
              </a:defRPr>
            </a:pPr>
            <a:r>
              <a:t>Demonstrates the complete customer journey: discovery, olfactory curation, sizing, cart management, and official receipting.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Interactive Engagement</a:t>
            </a:r>
          </a:p>
          <a:p>
            <a:pPr>
              <a:defRPr sz="1200">
                <a:solidFill>
                  <a:srgbClr val="A0A0A0"/>
                </a:solidFill>
              </a:defRPr>
            </a:pPr>
            <a:r>
              <a:t>More than a static catalogue: features an interactive Scent Sommelier quiz and bespoke calligraphy gifting.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F37"/>
                </a:solidFill>
              </a:defRPr>
            </a:pPr>
            <a:r>
              <a:t>Academic &amp; Technical Goals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DTI 224 Objectives</a:t>
            </a:r>
          </a:p>
          <a:p>
            <a:pPr>
              <a:defRPr sz="1200">
                <a:solidFill>
                  <a:srgbClr val="A0A0A0"/>
                </a:solidFill>
              </a:defRPr>
            </a:pPr>
            <a:r>
              <a:t>Applies core curriculum: semantic HTML5 tags, CSS3 modern flexbox &amp; grid architecture, and BOM/DOM event handling.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Zero Dependency Architecture</a:t>
            </a:r>
          </a:p>
          <a:p>
            <a:pPr>
              <a:defRPr sz="1200">
                <a:solidFill>
                  <a:srgbClr val="A0A0A0"/>
                </a:solidFill>
              </a:defRPr>
            </a:pPr>
            <a:r>
              <a:t>Written in pure vanilla JavaScript without bulky frameworks, achieving blazing speed and clean code readability.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State Management</a:t>
            </a:r>
          </a:p>
          <a:p>
            <a:pPr>
              <a:defRPr sz="1200">
                <a:solidFill>
                  <a:srgbClr val="A0A0A0"/>
                </a:solidFill>
              </a:defRPr>
            </a:pPr>
            <a:r>
              <a:t>Maintains shopping bag and discount state seamlessly using the browser's localStorage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02. VISUAL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Brand Identity &amp; Editorial Aesthetics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66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4AF37"/>
                </a:solidFill>
              </a:defRPr>
            </a:pPr>
            <a:r>
              <a:t>Visual System Architecture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Palette: Obsidian &amp; Gold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Primary background #0a0a0a, deep charcoal surfaces, and warm metallic gold #d4af37 accents.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Typography Pairings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Cormorant Garamond (Editorial luxury serif for titles) paired with Montserrat (clean legible sans for UI).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Glassmorphism &amp; Lighting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Backdrop blurs (12px), subtle gold glows, smooth cubic-bezier hover transitions, and marble podium depth.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Atmospheric Sillage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Product photos designed with mood-specific lighting: smoky noir, soft rose petals, water ripples, and amber haze.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03. PRODUCT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The Four Olfactory Masterpieces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1488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1148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VÉLORA NOIR</a:t>
            </a:r>
          </a:p>
          <a:p>
            <a:pPr>
              <a:defRPr sz="1000">
                <a:solidFill>
                  <a:srgbClr val="A0A0A0"/>
                </a:solidFill>
              </a:defRPr>
            </a:pPr>
            <a:r>
              <a:t>Dark &amp; Mysterious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Price: ฿1,290</a:t>
            </a:r>
          </a:p>
          <a:p>
            <a:pPr>
              <a:defRPr sz="950">
                <a:solidFill>
                  <a:srgbClr val="C5A880"/>
                </a:solidFill>
              </a:defRPr>
            </a:pPr>
            <a:r>
              <a:t>Notes: Pepper, Smoked Cedar, Tonka, Amber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14600" cy="466344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l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828800"/>
            <a:ext cx="214884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66160" y="41148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VÉLORA BLOOM</a:t>
            </a:r>
          </a:p>
          <a:p>
            <a:pPr>
              <a:defRPr sz="1000">
                <a:solidFill>
                  <a:srgbClr val="A0A0A0"/>
                </a:solidFill>
              </a:defRPr>
            </a:pPr>
            <a:r>
              <a:t>Floral &amp; Sweet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Price: ฿1,190</a:t>
            </a:r>
          </a:p>
          <a:p>
            <a:pPr>
              <a:defRPr sz="950">
                <a:solidFill>
                  <a:srgbClr val="C5A880"/>
                </a:solidFill>
              </a:defRPr>
            </a:pPr>
            <a:r>
              <a:t>Notes: Lychee, Damask Rose, Jasmine, Sandalwood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14600" cy="466344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qu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214884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41148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VÉLORA AQUA</a:t>
            </a:r>
          </a:p>
          <a:p>
            <a:pPr>
              <a:defRPr sz="1000">
                <a:solidFill>
                  <a:srgbClr val="A0A0A0"/>
                </a:solidFill>
              </a:defRPr>
            </a:pPr>
            <a:r>
              <a:t>Fresh &amp; Oceanic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Price: ฿1,090</a:t>
            </a:r>
          </a:p>
          <a:p>
            <a:pPr>
              <a:defRPr sz="950">
                <a:solidFill>
                  <a:srgbClr val="C5A880"/>
                </a:solidFill>
              </a:defRPr>
            </a:pPr>
            <a:r>
              <a:t>Notes: Sea Salt, Mandarin, Marine Accord, Driftwood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14600" cy="466344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ou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828800"/>
            <a:ext cx="214884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411480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VÉLORA OUD</a:t>
            </a:r>
          </a:p>
          <a:p>
            <a:pPr>
              <a:defRPr sz="1000">
                <a:solidFill>
                  <a:srgbClr val="A0A0A0"/>
                </a:solidFill>
              </a:defRPr>
            </a:pPr>
            <a:r>
              <a:t>Warm &amp; Woody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Price: ฿1,390</a:t>
            </a:r>
          </a:p>
          <a:p>
            <a:pPr>
              <a:defRPr sz="950">
                <a:solidFill>
                  <a:srgbClr val="C5A880"/>
                </a:solidFill>
              </a:defRPr>
            </a:pPr>
            <a:r>
              <a:t>Notes: Saffron, Cambodian Oud, Rosewood, Vetiver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04.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Front-End 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F37"/>
                </a:solidFill>
              </a:defRPr>
            </a:pPr>
            <a:r>
              <a:t>Semantic HTML5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Modern landmark tags (&lt;header&gt;, &lt;section&gt;, &lt;article&gt;, &lt;aside&gt;, &lt;footer&gt;)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Dual modal architecture (Quick View Modal, 2-Column Checkout)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Native form validation attributes (required, pattern, email)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Custom inline SVG assets for PromptPay QR and luxury iconography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F37"/>
                </a:solidFill>
              </a:defRPr>
            </a:pPr>
            <a:r>
              <a:t>Modern CSS3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Custom Properties (CSS variables) for consistent black &amp; gold theming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CSS Grid &amp; Flexbox for multi-screen responsive design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Hardware-accelerated animations (smooth slide-in cart, modal scale)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Dedicated @media print stylesheet for A4 printable official receipts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F37"/>
                </a:solidFill>
              </a:defRPr>
            </a:pPr>
            <a:r>
              <a:t>JavaScript (DOM/BOM)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Pure Vanilla JavaScript without external framework overhead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Dynamic catalog rendering from structured product data objects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Event-driven cart state management synchronized with localStorage</a:t>
            </a:r>
          </a:p>
          <a:p>
            <a:pPr>
              <a:defRPr sz="1200">
                <a:solidFill>
                  <a:srgbClr val="F5F5F5"/>
                </a:solidFill>
              </a:defRPr>
            </a:pPr>
            <a:r>
              <a:t>•  Interactive Scent Sommelier quiz recommendation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05. SMART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AI Scent Sommelier Recommendation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D4AF37"/>
                </a:solidFill>
              </a:defRPr>
            </a:pPr>
            <a:r>
              <a:t>Elevating E-Commerce with Interactive Personalization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The Business Problem:</a:t>
            </a:r>
          </a:p>
          <a:p>
            <a:pPr>
              <a:defRPr sz="1250">
                <a:solidFill>
                  <a:srgbClr val="A0A0A0"/>
                </a:solidFill>
              </a:defRPr>
            </a:pPr>
            <a:r>
              <a:t>    Fragrance is an invisible luxury. Customers online cannot smell the perfumes directly, creating hesitation.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The Technical Solution:</a:t>
            </a:r>
          </a:p>
          <a:p>
            <a:pPr>
              <a:defRPr sz="1250">
                <a:solidFill>
                  <a:srgbClr val="A0A0A0"/>
                </a:solidFill>
              </a:defRPr>
            </a:pPr>
            <a:r>
              <a:t>    An intuitive Scent Sommelier widget. Users select their desired emotional atmosphere (Dark, Sweet, Marine, Woody).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Algorithm Matching:</a:t>
            </a:r>
          </a:p>
          <a:p>
            <a:pPr>
              <a:defRPr sz="1250">
                <a:solidFill>
                  <a:srgbClr val="A0A0A0"/>
                </a:solidFill>
              </a:defRPr>
            </a:pPr>
            <a:r>
              <a:t>    JavaScript evaluates the choice, selects the matching edition object, renders scent notes, and generates an instant 'Add to Bag' button.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Customer Value:</a:t>
            </a:r>
          </a:p>
          <a:p>
            <a:pPr>
              <a:defRPr sz="1250">
                <a:solidFill>
                  <a:srgbClr val="A0A0A0"/>
                </a:solidFill>
              </a:defRPr>
            </a:pPr>
            <a:r>
              <a:t>    Transforms a passive browsing session into an engaging interactive boutique consultation, significantly boosting conversion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06. CHECKOUT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Bespoke 2-Column Checkout &amp; Voucher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F37"/>
                </a:solidFill>
              </a:defRPr>
            </a:pPr>
            <a:r>
              <a:t>Client &amp; Multi-Channel Payment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Bespoke Delivery Choice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Standard White-Glove (Complimentary) vs. VIP Same-Day Chauffeur (+฿150) with instant price calculation.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Personalized Calligraphy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Complimentary gift option toggle: input recipient name and custom handwritten message for recipient.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PromptPay QR &amp; Slip Upload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Generates Thai Banking QR graphic, Kasikornbank account details, and simulated slip attachment preview.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Smart Card Formatting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Automatically formats 16 digits into spaced 4-digit blocks (#### #### #### ####) with expiry and CVV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4AF37"/>
                </a:solidFill>
              </a:defRPr>
            </a:pPr>
            <a:r>
              <a:t>Voucher Engine &amp; Bag Summary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Live Manifest Preview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Itemized thumbnails, edition names, and flacon sizes displayed directly alongside order totals.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Interactive Voucher Logic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Supports promo codes: 'VELORA10' (10% Off), 'VIP300' (฿300 Off), and 'MAISON' (15% Off).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Real-time Discount Recalculation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Subtotal, promotional deduction, delivery surcharge, and final total calculate synchronously upon application.</a:t>
            </a:r>
          </a:p>
          <a:p>
            <a:pPr>
              <a:defRPr sz="1300" b="1">
                <a:solidFill>
                  <a:srgbClr val="F5F5F5"/>
                </a:solidFill>
              </a:defRPr>
            </a:pPr>
            <a:r>
              <a:t>✦  Security Assurance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t>Displays 256-bit encryption and authentic maison assurance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07. CONFIRMATION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Deluxe Digital Certificate &amp; Invoice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D4AF37"/>
                </a:solidFill>
              </a:defRPr>
            </a:pPr>
            <a:r>
              <a:t>Authentic Parisian Haute Parfumerie Documentation</a:t>
            </a:r>
          </a:p>
          <a:p>
            <a:pPr>
              <a:defRPr sz="1350" b="1">
                <a:solidFill>
                  <a:srgbClr val="F5F5F5"/>
                </a:solidFill>
              </a:defRPr>
            </a:pPr>
            <a:r>
              <a:t>✦  Unique Order Reference Ribbon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Generates unique tracking numbers (#VEL-XXXXXX), exact timestamps, and fulfillment progress.</a:t>
            </a:r>
          </a:p>
          <a:p>
            <a:pPr>
              <a:defRPr sz="1350" b="1">
                <a:solidFill>
                  <a:srgbClr val="F5F5F5"/>
                </a:solidFill>
              </a:defRPr>
            </a:pPr>
            <a:r>
              <a:t>✦  Itemized Commercial Manifest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Shows flacon images, Extrait concentration spec, sizes, unit pricing, and line totals.</a:t>
            </a:r>
          </a:p>
          <a:p>
            <a:pPr>
              <a:defRPr sz="1350" b="1">
                <a:solidFill>
                  <a:srgbClr val="F5F5F5"/>
                </a:solidFill>
              </a:defRPr>
            </a:pPr>
            <a:r>
              <a:t>✦  Paris Wax Seal Watermark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Artisanal extraction guarantee badge assuring formulation in Grasse, France.</a:t>
            </a:r>
          </a:p>
          <a:p>
            <a:pPr>
              <a:defRPr sz="1350" b="1">
                <a:solidFill>
                  <a:srgbClr val="F5F5F5"/>
                </a:solidFill>
              </a:defRPr>
            </a:pPr>
            <a:r>
              <a:t>✦  Calligraphy Inscription Display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Renders the customer's personal gift note in elegant italicized typography.</a:t>
            </a:r>
          </a:p>
          <a:p>
            <a:pPr>
              <a:defRPr sz="1350" b="1">
                <a:solidFill>
                  <a:srgbClr val="F5F5F5"/>
                </a:solidFill>
              </a:defRPr>
            </a:pPr>
            <a:r>
              <a:t>✦  One-Click Print Receipt (@media print)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CSS print stylesheet strips dark backgrounds and headers, outputting a clean, professional A4 PDF invoice.</a:t>
            </a:r>
          </a:p>
          <a:p>
            <a:pPr>
              <a:defRPr sz="1350" b="1">
                <a:solidFill>
                  <a:srgbClr val="F5F5F5"/>
                </a:solidFill>
              </a:defRPr>
            </a:pPr>
            <a:r>
              <a:t>✦  Client-side Text Export (.txt)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Utilizes Blob and URL.createObjectURL to instantly download a formatted plaintext order record.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A880"/>
                </a:solidFill>
              </a:defRPr>
            </a:pPr>
            <a:r>
              <a:t>08.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5F5"/>
                </a:solidFill>
              </a:defRPr>
            </a:pPr>
            <a:r>
              <a:t>Repository &amp; Live Website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61616"/>
          </a:solidFill>
          <a:ln>
            <a:solidFill>
              <a:srgbClr val="504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D4AF37"/>
                </a:solidFill>
              </a:defRPr>
            </a:pPr>
            <a:r>
              <a:t>Production-Ready Deployment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GitHub Source Code Repository:</a:t>
            </a:r>
          </a:p>
          <a:p>
            <a:pPr>
              <a:defRPr sz="1300" b="1">
                <a:solidFill>
                  <a:srgbClr val="E6CA65"/>
                </a:solidFill>
              </a:defRPr>
            </a:pPr>
            <a:r>
              <a:t>    https://github.com/RexX0Dora1005/VELORA-PERFUME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Complete source tree with commits, standardized asset images, and clean project documentation.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Live GitHub Pages URL:</a:t>
            </a:r>
          </a:p>
          <a:p>
            <a:pPr>
              <a:defRPr sz="1300" b="1">
                <a:solidFill>
                  <a:srgbClr val="E6CA65"/>
                </a:solidFill>
              </a:defRPr>
            </a:pPr>
            <a:r>
              <a:t>    https://rexx0dora1005.github.io/VELORA-PERFUME/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Fully hosted live web app accessible on any mobile device, tablet, or desktop browser.</a:t>
            </a:r>
          </a:p>
          <a:p>
            <a:pPr>
              <a:defRPr sz="1400" b="1">
                <a:solidFill>
                  <a:srgbClr val="F5F5F5"/>
                </a:solidFill>
              </a:defRPr>
            </a:pPr>
            <a:r>
              <a:t>✦  Zero Build Step Architecture:</a:t>
            </a:r>
          </a:p>
          <a:p>
            <a:pPr>
              <a:defRPr sz="1300" b="1">
                <a:solidFill>
                  <a:srgbClr val="E6CA65"/>
                </a:solidFill>
              </a:defRPr>
            </a:pPr>
            <a:r>
              <a:t>    Vanilla HTML5 / CSS3 / JavaScript</a:t>
            </a:r>
          </a:p>
          <a:p>
            <a:pPr>
              <a:defRPr sz="1150">
                <a:solidFill>
                  <a:srgbClr val="A0A0A0"/>
                </a:solidFill>
              </a:defRPr>
            </a:pPr>
            <a:r>
              <a:t>    No node_modules, bundlers, or compilation required — runs directly in vanilla browsers.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161616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286000" cy="20873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CA65"/>
                </a:solidFill>
              </a:defRPr>
            </a:pPr>
            <a:r>
              <a:t>Thank You for Your Attention</a:t>
            </a:r>
          </a:p>
          <a:p>
            <a:pPr algn="ctr">
              <a:defRPr sz="1800" i="1">
                <a:solidFill>
                  <a:srgbClr val="F5F5F5"/>
                </a:solidFill>
              </a:defRPr>
            </a:pPr>
            <a:r>
              <a:t>“Discover Your Signature Scent — VÉLORA Parfums”</a:t>
            </a:r>
          </a:p>
          <a:p>
            <a:pPr algn="ctr">
              <a:defRPr sz="1600" b="1">
                <a:solidFill>
                  <a:srgbClr val="C5A880"/>
                </a:solidFill>
              </a:defRPr>
            </a:pPr>
            <a:r>
              <a:t>Questions &amp; Feedback Welcomed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